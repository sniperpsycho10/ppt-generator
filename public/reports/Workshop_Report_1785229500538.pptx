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4" Type="http://schemas.openxmlformats.org/officeDocument/2006/relationships/hyperlink" Target="http://172.17.66.20:4000/feedback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jpeg"/><Relationship Id="rId3" Type="http://schemas.openxmlformats.org/officeDocument/2006/relationships/image" Target="../media/image-1002-3.png"/><Relationship Id="rId5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EMIUM_MASTER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>
              <a:alpha val="15000"/>
            </a:srgbClr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82880"/>
            <a:ext cx="914400" cy="91440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0A3D62"/>
          </a:solidFill>
          <a:ln/>
        </p:spPr>
      </p:sp>
      <p:pic>
        <p:nvPicPr>
          <p:cNvPr id="6" name="Image 2" descr="preencoded.png">
            <a:hlinkClick r:id="rId4" tooltip="Go to Feedback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4572000"/>
            <a:ext cx="457200" cy="45720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8321040" y="438912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0A3D62"/>
                </a:solidFill>
              </a:rPr>
              <a:t>Click or Scan QR</a:t>
            </a:r>
            <a:endParaRPr lang="en-US" sz="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33333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33333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457200" cy="457200"/>
          </a:xfrm>
          <a:prstGeom prst="chord">
            <a:avLst/>
          </a:prstGeom>
          <a:solidFill>
            <a:srgbClr val="F4805A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914400"/>
            <a:ext cx="457200" cy="457200"/>
          </a:xfrm>
          <a:prstGeom prst="rect">
            <a:avLst/>
          </a:prstGeom>
          <a:solidFill>
            <a:srgbClr val="7DB87F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1371600"/>
            <a:ext cx="457200" cy="457200"/>
          </a:xfrm>
          <a:prstGeom prst="rtTriangle">
            <a:avLst/>
          </a:prstGeom>
          <a:solidFill>
            <a:srgbClr val="4A90E2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1828800"/>
            <a:ext cx="457200" cy="457200"/>
          </a:xfrm>
          <a:prstGeom prst="chord">
            <a:avLst/>
          </a:prstGeom>
          <a:solidFill>
            <a:srgbClr val="F4805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3716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</a:rPr>
              <a:t>JULY 2026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16459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3D62"/>
                </a:solidFill>
              </a:rPr>
              <a:t>MONTHLY MAINTENANCE WORKSHOP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914400" y="2286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Best Practice Sharing &amp; Repetitive Problem Resolution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33333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45720" cy="365760"/>
          </a:xfrm>
          <a:prstGeom prst="rect">
            <a:avLst/>
          </a:prstGeom>
          <a:solidFill>
            <a:srgbClr val="7DB87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3D62"/>
                </a:solidFill>
              </a:rPr>
              <a:t>Workshop agenda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3200400"/>
          </a:xfrm>
          <a:prstGeom prst="roundRect">
            <a:avLst>
              <a:gd name="adj" fmla="val 2857"/>
            </a:avLst>
          </a:prstGeom>
          <a:solidFill>
            <a:srgbClr val="FFFFFF">
              <a:alpha val="70000"/>
            </a:srgbClr>
          </a:solidFill>
          <a:ln w="25400">
            <a:solidFill>
              <a:srgbClr val="7DB87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554480"/>
            <a:ext cx="1645920" cy="228600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0116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7DB87F"/>
                </a:solidFill>
              </a:rPr>
              <a:t>★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914400" y="256032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3D62"/>
                </a:solidFill>
              </a:rPr>
              <a:t>BEST PRACTICES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A3D62"/>
                </a:solidFill>
              </a:rPr>
              <a:t>SHARING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834640" y="1554480"/>
            <a:ext cx="1645920" cy="228600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34640" y="20116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4805A"/>
                </a:solidFill>
              </a:rPr>
              <a:t>▲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2834640" y="256032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3D62"/>
                </a:solidFill>
              </a:rPr>
              <a:t>REPETITIVE / CHRONIC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A3D62"/>
                </a:solidFill>
              </a:rPr>
              <a:t>PROBLEM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A3D62"/>
                </a:solidFill>
              </a:rPr>
              <a:t>DISCUSSION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0" y="1554480"/>
            <a:ext cx="1645920" cy="228600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20116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4A90E2"/>
                </a:solidFill>
              </a:rPr>
              <a:t>📈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4754880" y="256032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3D62"/>
                </a:solidFill>
              </a:rPr>
              <a:t>ACTION REVIEW &amp;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A3D62"/>
                </a:solidFill>
              </a:rPr>
              <a:t>KPI TRENDS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675120" y="1554480"/>
            <a:ext cx="1645920" cy="228600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75120" y="20116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7DB87F"/>
                </a:solidFill>
              </a:rPr>
              <a:t>🏢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6675120" y="256032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3D62"/>
                </a:solidFill>
              </a:rPr>
              <a:t>HORIZONTAL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A3D62"/>
                </a:solidFill>
              </a:rPr>
              <a:t>DEPLOYMENT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33333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</a:rPr>
              <a:t>Department: </a:t>
            </a:r>
            <a:pPr indent="0" marL="0">
              <a:buNone/>
            </a:pPr>
            <a:r>
              <a:rPr lang="en-US" sz="1400" b="1" dirty="0">
                <a:solidFill>
                  <a:srgbClr val="7DB87F"/>
                </a:solidFill>
              </a:rPr>
              <a:t>Mechanical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365760" y="548640"/>
            <a:ext cx="45720" cy="274320"/>
          </a:xfrm>
          <a:prstGeom prst="rect">
            <a:avLst/>
          </a:prstGeom>
          <a:solidFill>
            <a:srgbClr val="7DB87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5486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3D62"/>
                </a:solidFill>
              </a:rPr>
              <a:t>BEST PRACTICE: 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blade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411480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7DB87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51560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DB87F"/>
                </a:solidFill>
              </a:rPr>
              <a:t>OBJECTIVE / PURPOSE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blade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1828800"/>
            <a:ext cx="411480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7DB87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874520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DB87F"/>
                </a:solidFill>
              </a:rPr>
              <a:t>PROBLEM ADDRESSED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21031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bladeblade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2743200"/>
            <a:ext cx="411480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7DB87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788920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DB87F"/>
                </a:solidFill>
              </a:rPr>
              <a:t>METHODOLOGY / INNOVATION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" y="30175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blade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3657600"/>
            <a:ext cx="411480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7DB87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703320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DB87F"/>
                </a:solidFill>
              </a:rPr>
              <a:t>IMPACT / SAVING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7200" y="39319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Cost Impact: Approx Rs. 123 Lakhs.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663440" y="2560320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DB87F"/>
                </a:solidFill>
              </a:rPr>
              <a:t>PHOTOS &amp; EVIDENCE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663440" y="2743200"/>
            <a:ext cx="1280160" cy="1645920"/>
          </a:xfrm>
          <a:prstGeom prst="rect">
            <a:avLst/>
          </a:prstGeom>
          <a:solidFill>
            <a:srgbClr val="111111"/>
          </a:solidFill>
          <a:ln w="19050">
            <a:solidFill>
              <a:srgbClr val="F4805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63440" y="2743200"/>
            <a:ext cx="12801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MISSING BEFORE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63440" y="2743200"/>
            <a:ext cx="548640" cy="137160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21" name="Text 19"/>
          <p:cNvSpPr/>
          <p:nvPr/>
        </p:nvSpPr>
        <p:spPr>
          <a:xfrm>
            <a:off x="4663440" y="2743200"/>
            <a:ext cx="5486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11111"/>
                </a:solidFill>
              </a:rPr>
              <a:t>BEFORE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6126480" y="2743200"/>
            <a:ext cx="1280160" cy="1645920"/>
          </a:xfrm>
          <a:prstGeom prst="rect">
            <a:avLst/>
          </a:prstGeom>
          <a:solidFill>
            <a:srgbClr val="111111"/>
          </a:solidFill>
          <a:ln w="19050">
            <a:solidFill>
              <a:srgbClr val="F4805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26480" y="2743200"/>
            <a:ext cx="12801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MISSING AFTER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126480" y="2743200"/>
            <a:ext cx="548640" cy="137160"/>
          </a:xfrm>
          <a:prstGeom prst="rect">
            <a:avLst/>
          </a:prstGeom>
          <a:solidFill>
            <a:srgbClr val="7DB87F"/>
          </a:solidFill>
          <a:ln/>
        </p:spPr>
      </p:sp>
      <p:sp>
        <p:nvSpPr>
          <p:cNvPr id="25" name="Text 23"/>
          <p:cNvSpPr/>
          <p:nvPr/>
        </p:nvSpPr>
        <p:spPr>
          <a:xfrm>
            <a:off x="6126480" y="2743200"/>
            <a:ext cx="5486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11111"/>
                </a:solidFill>
              </a:rPr>
              <a:t>AFTER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7589520" y="2743200"/>
            <a:ext cx="1280160" cy="1645920"/>
          </a:xfrm>
          <a:prstGeom prst="rect">
            <a:avLst/>
          </a:prstGeom>
          <a:solidFill>
            <a:srgbClr val="111111"/>
          </a:solidFill>
          <a:ln w="19050">
            <a:solidFill>
              <a:srgbClr val="F4805A"/>
            </a:solidFill>
            <a:prstDash val="solid"/>
          </a:ln>
        </p:spPr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2743200"/>
            <a:ext cx="1280160" cy="1645920"/>
          </a:xfrm>
          <a:prstGeom prst="rect">
            <a:avLst/>
          </a:prstGeom>
        </p:spPr>
      </p:pic>
      <p:sp>
        <p:nvSpPr>
          <p:cNvPr id="28" name="Shape 25"/>
          <p:cNvSpPr/>
          <p:nvPr/>
        </p:nvSpPr>
        <p:spPr>
          <a:xfrm>
            <a:off x="7589520" y="2743200"/>
            <a:ext cx="731520" cy="137160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29" name="Text 26"/>
          <p:cNvSpPr/>
          <p:nvPr/>
        </p:nvSpPr>
        <p:spPr>
          <a:xfrm>
            <a:off x="7589520" y="2743200"/>
            <a:ext cx="7315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SUPPORTING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33333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3D62"/>
                </a:solidFill>
              </a:rPr>
              <a:t>CALCULATION TABLE (Part 1): 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blade</a:t>
            </a:r>
            <a:endParaRPr lang="en-US" sz="1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914400"/>
        </p:xfrm>
        <a:graphic>
          <a:graphicData uri="http://schemas.openxmlformats.org/drawingml/2006/table">
            <a:tbl>
              <a:tblPr/>
              <a:tblGrid>
                <a:gridCol w="1028700"/>
                <a:gridCol w="1028700"/>
                <a:gridCol w="1028700"/>
                <a:gridCol w="1028700"/>
                <a:gridCol w="1028700"/>
                <a:gridCol w="1028700"/>
                <a:gridCol w="1028700"/>
                <a:gridCol w="10287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Column_1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Column_2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Column_3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Column_4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Column_5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Column_6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Column_7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Column_8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ID001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Plant </a:t>
                      </a:r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C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East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422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87.48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Stopped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20.5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582.8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ID002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Plant </a:t>
                      </a:r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B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East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439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51.24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Stopped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42.4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914.3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ID003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Plant </a:t>
                      </a:r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C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East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491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48.03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Maintenance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42.2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975.8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ID004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Plant </a:t>
                      </a:r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C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East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307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12.85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Maintenance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36.7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819.8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ID005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Plant </a:t>
                      </a:r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C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South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146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59.11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Running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23.4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868.5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ID006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Plant </a:t>
                      </a:r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A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West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256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52.81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Running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25.7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666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ID007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Plant </a:t>
                      </a:r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A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North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351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59.58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Maintenance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24.8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589.3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ID008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Plant </a:t>
                      </a:r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C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South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455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30.18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Maintenance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29.7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839.1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ID009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Plant </a:t>
                      </a:r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A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West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309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99.88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Maintenance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25.6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504.2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ID010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Plant </a:t>
                      </a:r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B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North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493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30.58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Running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31.5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914.5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33333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3D62"/>
                </a:solidFill>
              </a:rPr>
              <a:t>CALCULATION TABLE (Part 2): 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blade</a:t>
            </a:r>
            <a:endParaRPr lang="en-US" sz="1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Column_9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Column_10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7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OK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7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OK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8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Warning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4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Warning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Warning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6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OK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Warning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6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Critical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OK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Warning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33333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</a:rPr>
              <a:t>Department: </a:t>
            </a:r>
            <a:pPr indent="0" marL="0">
              <a:buNone/>
            </a:pPr>
            <a:r>
              <a:rPr lang="en-US" sz="1400" b="1" dirty="0">
                <a:solidFill>
                  <a:srgbClr val="7DB87F"/>
                </a:solidFill>
              </a:rPr>
              <a:t>Mechanical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365760" y="548640"/>
            <a:ext cx="45720" cy="274320"/>
          </a:xfrm>
          <a:prstGeom prst="rect">
            <a:avLst/>
          </a:prstGeom>
          <a:solidFill>
            <a:srgbClr val="7DB87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5486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3D62"/>
                </a:solidFill>
              </a:rPr>
              <a:t>SUPPORTING : 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Supporting Doc: blade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3D62"/>
                </a:solidFill>
              </a:rPr>
              <a:t>CUSTOM TABLE</a:t>
            </a:r>
            <a:endParaRPr lang="en-US" sz="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88720"/>
          <a:ext cx="8412480" cy="914400"/>
        </p:xfrm>
        <a:graphic>
          <a:graphicData uri="http://schemas.openxmlformats.org/drawingml/2006/table">
            <a:tbl>
              <a:tblPr/>
              <a:tblGrid>
                <a:gridCol w="2804160"/>
                <a:gridCol w="2804160"/>
                <a:gridCol w="28041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Header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B87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Header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2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B87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Header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3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B87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Data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Data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2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Data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3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33333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A3D62"/>
                </a:solidFill>
              </a:rPr>
              <a:t>Tracker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A3D62"/>
                </a:solidFill>
              </a:rPr>
              <a:t>Monthly Maintenance Workshop</a:t>
            </a:r>
            <a:endParaRPr lang="en-US" sz="2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01168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  <a:gridCol w="27432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Category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90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Total Nos. of Entries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90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Nos. of entries for Action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90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Remarks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90E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Best Practice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01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01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-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Repetitive Problem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00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00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-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33333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A90E2"/>
                </a:solidFill>
              </a:rPr>
              <a:t>Best Practice: </a:t>
            </a:r>
            <a:pPr indent="0" marL="0">
              <a:buNone/>
            </a:pPr>
            <a:r>
              <a:rPr lang="en-US" sz="2400" dirty="0">
                <a:solidFill>
                  <a:srgbClr val="0A3D62"/>
                </a:solidFill>
              </a:rPr>
              <a:t>Monthly Maintenance Workshop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3D62"/>
                </a:solidFill>
              </a:rPr>
              <a:t>Horizontal Deployment Tracker:</a:t>
            </a:r>
            <a:endParaRPr lang="en-US" sz="2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1280160"/>
          <a:ext cx="877824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2560320"/>
                <a:gridCol w="1828800"/>
                <a:gridCol w="914400"/>
                <a:gridCol w="237744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Department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Best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Practice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Title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Area/ </a:t>
                      </a:r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Department </a:t>
                      </a:r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 </a:t>
                      </a:r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be </a:t>
                      </a:r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Implemented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Deadline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Remarks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Mechanical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blade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33333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53E3E"/>
                </a:solidFill>
              </a:rPr>
              <a:t>Repetitive Problem: </a:t>
            </a:r>
            <a:pPr indent="0" marL="0">
              <a:buNone/>
            </a:pPr>
            <a:r>
              <a:rPr lang="en-US" sz="2400" dirty="0">
                <a:solidFill>
                  <a:srgbClr val="0A3D62"/>
                </a:solidFill>
              </a:rPr>
              <a:t>Monthly Maintenance Workshop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3D62"/>
                </a:solidFill>
              </a:rPr>
              <a:t>Suggestion Tracker:</a:t>
            </a:r>
            <a:endParaRPr lang="en-US" sz="2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" y="1280160"/>
          <a:ext cx="896112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1097280"/>
                <a:gridCol w="1280160"/>
                <a:gridCol w="1828800"/>
                <a:gridCol w="914400"/>
                <a:gridCol w="1097280"/>
                <a:gridCol w="914400"/>
                <a:gridCol w="109728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Dept.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Equipment </a:t>
                      </a:r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Details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Problem </a:t>
                      </a:r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Statement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Discussion/ </a:t>
                      </a:r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Initial </a:t>
                      </a:r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Suggestion </a:t>
                      </a:r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during </a:t>
                      </a:r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workshop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Suggester </a:t>
                      </a:r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Name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Team </a:t>
                      </a:r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name </a:t>
                      </a:r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for </a:t>
                      </a:r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Analyse </a:t>
                      </a:r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the </a:t>
                      </a:r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problem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Analysis </a:t>
                      </a:r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Target </a:t>
                      </a:r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Date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Remarks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</a:tr>
              <a:tr h="365760">
                <a:tc gridSpan="8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No </a:t>
                      </a:r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Repetitive </a:t>
                      </a:r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Problems </a:t>
                      </a:r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recorded </a:t>
                      </a:r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yet.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33333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A3D62"/>
                </a:solidFill>
              </a:rPr>
              <a:t>We Want Your Feedback!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914400" y="22860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Scan the QR Code to submit your suggestions live.</a:t>
            </a:r>
            <a:endParaRPr lang="en-US" sz="2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4720" y="2743200"/>
            <a:ext cx="2194560" cy="21945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33333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oppi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oppi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 standalone="yes"?>
<Properties xmlns="http://schemas.openxmlformats.org/officeDocument/2006/extended-properties" xmlns:vt="http://schemas.openxmlformats.org/officeDocument/2006/docPropsVTypes">
	<TotalTime>0</TotalTime>
	<Words>0</Words>
	<Application>Microsoft Office PowerPoint</Application>
	<PresentationFormat>On-screen Show (16:9)</PresentationFormat>
	<Paragraphs>0</Paragraphs>
	<Slides>10</Slides>
	<Notes>10</Notes>
	<HiddenSlides>0</HiddenSlides>
	<MMClips>0</MMClips>
	<ScaleCrop>false</ScaleCrop>
	<HeadingPairs>
		<vt:vector size="6" baseType="variant">
			<vt:variant><vt:lpstr>Fonts Used</vt:lpstr></vt:variant>
			<vt:variant><vt:i4>2</vt:i4></vt:variant>
			<vt:variant><vt:lpstr>Theme</vt:lpstr></vt:variant>
			<vt:variant><vt:i4>1</vt:i4></vt:variant>
			<vt:variant><vt:lpstr>Slide Titles</vt:lpstr></vt:variant>
			<vt:variant><vt:i4>10</vt:i4></vt:variant>
		</vt:vector>
	</HeadingPairs>
	<TitlesOfParts>
		<vt:vector size="13" baseType="lpstr">
			<vt:lpstr>Arial</vt:lpstr>
			<vt:lpstr>Calibri</vt:lpstr>
			<vt:lpstr>Office Theme</vt:lpstr>
			<vt:lpstr>Slide 1</vt:lpstr><vt:lpstr>Slide 2</vt:lpstr><vt:lpstr>Slide 3</vt:lpstr><vt:lpstr>Slide 4</vt:lpstr><vt:lpstr>Slide 5</vt:lpstr><vt:lpstr>Slide 6</vt:lpstr><vt:lpstr>Slide 7</vt:lpstr><vt:lpstr>Slide 8</vt:lpstr><vt:lpstr>Slide 9</vt:lpstr><vt:lpstr>Slide 10</vt:lpstr>
		</vt:vector>
	</TitlesOfParts>
	<Company>Jindal Steel & Power</Company>
	<LinksUpToDate>false</LinksUpToDate>
	<SharedDoc>false</SharedDoc>
	<HyperlinksChanged>false</HyperlinksChanged>
	<AppVersion>16.0000</AppVersion>
	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Monthly Maintenance Workshop</dc:title>
  <dc:subject>PptxGenJS Presentation</dc:subject>
  <dc:creator>JSPL System</dc:creator>
  <cp:lastModifiedBy>JSPL System</cp:lastModifiedBy>
  <cp:revision>1</cp:revision>
  <dcterms:created xsi:type="dcterms:W3CDTF">2026-07-28T09:05:00Z</dcterms:created>
  <dcterms:modified xsi:type="dcterms:W3CDTF">2026-07-28T09:05:00Z</dcterms:modified>
</cp:coreProperties>
</file>